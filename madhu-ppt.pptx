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97877" y="31489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2334424"/>
          </a:xfrm>
        </p:spPr>
        <p:txBody>
          <a:bodyPr>
            <a:normAutofit/>
          </a:bodyPr>
          <a:lstStyle/>
          <a:p>
            <a:pPr algn="ctr"/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\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53BC5-3097-CED4-E5DA-ADDE79371940}"/>
              </a:ext>
            </a:extLst>
          </p:cNvPr>
          <p:cNvSpPr txBox="1"/>
          <p:nvPr/>
        </p:nvSpPr>
        <p:spPr>
          <a:xfrm>
            <a:off x="2859351" y="2235200"/>
            <a:ext cx="640955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AI-Driven NPU-Enabled Battery Management for Electric Vehicles: Predictive Cell Voltage and Optimization Planning </a:t>
            </a:r>
          </a:p>
          <a:p>
            <a:endParaRPr lang="en-US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Rectangle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6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close up of circuit board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l="17220" r="9210" b="-1"/>
          <a:stretch/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20" y="618518"/>
            <a:ext cx="2848355" cy="992795"/>
          </a:xfrm>
        </p:spPr>
        <p:txBody>
          <a:bodyPr>
            <a:normAutofit/>
          </a:bodyPr>
          <a:lstStyle/>
          <a:p>
            <a:r>
              <a:rPr lang="en-US" sz="3200" dirty="0"/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9AB7-9E36-4EAD-B44A-9E0CEA24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519" y="2249487"/>
            <a:ext cx="3084892" cy="19002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/>
              <a:t>MADHUMITHA.L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/>
              <a:t>LEKHASHREE.S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/>
              <a:t>MONIKA.I</a:t>
            </a:r>
          </a:p>
        </p:txBody>
      </p:sp>
    </p:spTree>
    <p:extLst>
      <p:ext uri="{BB962C8B-B14F-4D97-AF65-F5344CB8AC3E}">
        <p14:creationId xmlns:p14="http://schemas.microsoft.com/office/powerpoint/2010/main" val="10948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3744-EF68-CC9F-A209-B1861080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294060" cy="1398818"/>
          </a:xfrm>
        </p:spPr>
        <p:txBody>
          <a:bodyPr>
            <a:noAutofit/>
          </a:bodyPr>
          <a:lstStyle/>
          <a:p>
            <a:pPr algn="ctr"/>
            <a:r>
              <a:rPr lang="en-IN" sz="4800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2F22A-1AEA-0198-F2D9-63BC013F4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685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EV batteries contain many lithium-ion cells with uneven degradation</a:t>
            </a:r>
          </a:p>
          <a:p>
            <a:r>
              <a:rPr lang="en-US" dirty="0"/>
              <a:t>Traditional BMS cannot track individual cell behavior accurately</a:t>
            </a:r>
          </a:p>
          <a:p>
            <a:r>
              <a:rPr lang="en-US" dirty="0"/>
              <a:t>Uses GRU model to predict future cell voltage</a:t>
            </a:r>
          </a:p>
          <a:p>
            <a:r>
              <a:rPr lang="en-US" dirty="0"/>
              <a:t>Uses K-Means clustering to identify weak and healthy cells</a:t>
            </a:r>
          </a:p>
          <a:p>
            <a:r>
              <a:rPr lang="en-US" dirty="0"/>
              <a:t>Implemented on NPU for fast, low-power processing</a:t>
            </a:r>
          </a:p>
          <a:p>
            <a:r>
              <a:rPr lang="en-US" dirty="0"/>
              <a:t>Enables real-time monitoring and early fault detection</a:t>
            </a:r>
          </a:p>
          <a:p>
            <a:r>
              <a:rPr lang="en-US" dirty="0"/>
              <a:t>Improves battery life, safety, and overall EV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70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6AA0-12BC-45B2-3C6C-FDBD3CD6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342" y="268665"/>
            <a:ext cx="3506772" cy="1117075"/>
          </a:xfrm>
        </p:spPr>
        <p:txBody>
          <a:bodyPr/>
          <a:lstStyle/>
          <a:p>
            <a:r>
              <a:rPr lang="en-IN" dirty="0"/>
              <a:t>Block diagram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10499-6ED8-3592-C50D-6903EA4A0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031" y="945036"/>
            <a:ext cx="7720551" cy="5257799"/>
          </a:xfrm>
        </p:spPr>
      </p:pic>
    </p:spTree>
    <p:extLst>
      <p:ext uri="{BB962C8B-B14F-4D97-AF65-F5344CB8AC3E}">
        <p14:creationId xmlns:p14="http://schemas.microsoft.com/office/powerpoint/2010/main" val="81327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F795-DEC9-8AB2-53E1-3CD45913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234" y="150829"/>
            <a:ext cx="3516197" cy="1461155"/>
          </a:xfrm>
        </p:spPr>
        <p:txBody>
          <a:bodyPr/>
          <a:lstStyle/>
          <a:p>
            <a:r>
              <a:rPr lang="en-IN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33ED-5100-65E1-F345-C5B372DA1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11984"/>
            <a:ext cx="9905999" cy="4179217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/>
              <a:t>Conventional battery management systems monitor average pack voltage and current. Alerts are generated only when predefined voltage or temperature limits are exceeded.</a:t>
            </a:r>
          </a:p>
          <a:p>
            <a:r>
              <a:rPr lang="en-US" sz="4400" dirty="0"/>
              <a:t>Individual cell behavior or early imbalance cannot be predicted. Weak or degrading cells are detected only after significant performance drop. </a:t>
            </a:r>
          </a:p>
          <a:p>
            <a:r>
              <a:rPr lang="en-US" sz="4400" dirty="0"/>
              <a:t>Only basic passive cell balancing is applied. No active optimization is performed to maintain uniform cell voltage.</a:t>
            </a:r>
          </a:p>
          <a:p>
            <a:r>
              <a:rPr lang="en-US" sz="4400" dirty="0"/>
              <a:t>Processing is slow and limited to simple threshold-based decisions. Real-time monitoring and analysis of all cells is not possible. </a:t>
            </a:r>
          </a:p>
          <a:p>
            <a:r>
              <a:rPr lang="en-US" sz="4400" dirty="0"/>
              <a:t>No AI or advanced computing is used for prediction. The system cannot forecast future cell behavior or prevent issues proactively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94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600A-BAB8-5C34-6936-E0CB7A3A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977" y="618518"/>
            <a:ext cx="3855563" cy="1478570"/>
          </a:xfrm>
        </p:spPr>
        <p:txBody>
          <a:bodyPr/>
          <a:lstStyle/>
          <a:p>
            <a:r>
              <a:rPr lang="en-IN" dirty="0"/>
              <a:t>Proposed </a:t>
            </a:r>
            <a:r>
              <a:rPr lang="en-IN" dirty="0" err="1"/>
              <a:t>syetem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983D-595E-268D-C0A4-65BFBACAA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1093"/>
            <a:ext cx="9905999" cy="40001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system uses an NPU-enabled processor for high-speed </a:t>
            </a:r>
            <a:r>
              <a:rPr lang="en-US" dirty="0" err="1"/>
              <a:t>computation.GRU</a:t>
            </a:r>
            <a:r>
              <a:rPr lang="en-US" dirty="0"/>
              <a:t>-based models predict individual cell voltages in real time.</a:t>
            </a:r>
          </a:p>
          <a:p>
            <a:r>
              <a:rPr lang="en-US" dirty="0"/>
              <a:t>K-Means clustering categorizes cells based on their operating </a:t>
            </a:r>
            <a:r>
              <a:rPr lang="en-US" dirty="0" err="1"/>
              <a:t>condition.Weak</a:t>
            </a:r>
            <a:r>
              <a:rPr lang="en-US" dirty="0"/>
              <a:t> or unstable cells are identified before they affect overall performance. </a:t>
            </a:r>
          </a:p>
          <a:p>
            <a:r>
              <a:rPr lang="en-US" dirty="0"/>
              <a:t>Active cell balancing is applied based on prediction and </a:t>
            </a:r>
            <a:r>
              <a:rPr lang="en-US" dirty="0" err="1"/>
              <a:t>optimization.Voltage</a:t>
            </a:r>
            <a:r>
              <a:rPr lang="en-US" dirty="0"/>
              <a:t> is maintained uniformly across the battery pack during operation. </a:t>
            </a:r>
          </a:p>
          <a:p>
            <a:r>
              <a:rPr lang="en-US" dirty="0"/>
              <a:t>Real-time monitoring and analysis allow proactive control </a:t>
            </a:r>
            <a:r>
              <a:rPr lang="en-US" dirty="0" err="1"/>
              <a:t>actions.The</a:t>
            </a:r>
            <a:r>
              <a:rPr lang="en-US" dirty="0"/>
              <a:t> system adjusts current and charging strategies dynamically.</a:t>
            </a:r>
          </a:p>
          <a:p>
            <a:r>
              <a:rPr lang="en-US" dirty="0"/>
              <a:t>AI-driven prediction and optimization improve battery </a:t>
            </a:r>
            <a:r>
              <a:rPr lang="en-US" dirty="0" err="1"/>
              <a:t>reliability.Overall</a:t>
            </a:r>
            <a:r>
              <a:rPr lang="en-US" dirty="0"/>
              <a:t> lifespan is extended, and performance is enhanced without cloud dependency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56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FBF3-459F-EBB0-46A1-C53788F1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408"/>
            <a:ext cx="9905998" cy="106994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Hardware Requirements and 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98D3C-F5BA-C2E7-9631-8DBB38EA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55802"/>
            <a:ext cx="9905999" cy="5693790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NPU-Enabled Edge AI Processor Board</a:t>
            </a:r>
          </a:p>
          <a:p>
            <a:r>
              <a:rPr lang="en-IN" dirty="0"/>
              <a:t>Microcontroller Unit (MCU) </a:t>
            </a:r>
          </a:p>
          <a:p>
            <a:r>
              <a:rPr lang="en-IN" dirty="0"/>
              <a:t>Multi-Cell Battery Voltage Monitoring IC </a:t>
            </a:r>
          </a:p>
          <a:p>
            <a:r>
              <a:rPr lang="en-IN" dirty="0"/>
              <a:t>Battery Temperature Sensors </a:t>
            </a:r>
          </a:p>
          <a:p>
            <a:r>
              <a:rPr lang="en-IN" dirty="0"/>
              <a:t>Current Sensor Module </a:t>
            </a:r>
          </a:p>
          <a:p>
            <a:r>
              <a:rPr lang="en-IN" dirty="0"/>
              <a:t>Active / Passive Cell Balancing Circuit </a:t>
            </a:r>
          </a:p>
          <a:p>
            <a:r>
              <a:rPr lang="en-IN" dirty="0"/>
              <a:t>Isolated DC-DC Converter </a:t>
            </a:r>
          </a:p>
          <a:p>
            <a:r>
              <a:rPr lang="en-IN" dirty="0"/>
              <a:t>UART Interface Modules </a:t>
            </a:r>
          </a:p>
          <a:p>
            <a:r>
              <a:rPr lang="en-IN" dirty="0"/>
              <a:t>LCD Display Module </a:t>
            </a:r>
          </a:p>
          <a:p>
            <a:r>
              <a:rPr lang="en-IN" dirty="0"/>
              <a:t>Thermal Cut-Off Relay Module </a:t>
            </a:r>
          </a:p>
          <a:p>
            <a:r>
              <a:rPr lang="en-IN" dirty="0"/>
              <a:t>Resettable Protection Circuit </a:t>
            </a:r>
          </a:p>
          <a:p>
            <a:r>
              <a:rPr lang="en-IN" dirty="0"/>
              <a:t>Power Supply / Battery Cell </a:t>
            </a:r>
          </a:p>
          <a:p>
            <a:r>
              <a:rPr lang="en-US" dirty="0"/>
              <a:t> Programming Language: • Embedded C • python </a:t>
            </a:r>
          </a:p>
          <a:p>
            <a:r>
              <a:rPr lang="en-US" dirty="0"/>
              <a:t>Integrated Development Environment (IDE): • Thonny IDE • Visual Studio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63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A61B-01A7-00C7-10C5-6D05F9A0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06587"/>
          </a:xfrm>
        </p:spPr>
        <p:txBody>
          <a:bodyPr/>
          <a:lstStyle/>
          <a:p>
            <a:pPr algn="ctr"/>
            <a:r>
              <a:rPr lang="en-IN" b="1" dirty="0"/>
              <a:t>Power Supply Section and Power Supply Section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B90A-FEA6-D1AB-81CA-4583BB9C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6850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AC mains converted using </a:t>
            </a:r>
            <a:r>
              <a:rPr lang="en-IN" b="1" dirty="0"/>
              <a:t>transformer</a:t>
            </a:r>
            <a:endParaRPr lang="en-IN" dirty="0"/>
          </a:p>
          <a:p>
            <a:pPr lvl="0"/>
            <a:r>
              <a:rPr lang="en-IN" dirty="0"/>
              <a:t>Rectifier converts AC → DC</a:t>
            </a:r>
          </a:p>
          <a:p>
            <a:pPr lvl="0"/>
            <a:r>
              <a:rPr lang="en-IN" dirty="0"/>
              <a:t>Filter removes noise</a:t>
            </a:r>
          </a:p>
          <a:p>
            <a:pPr lvl="0"/>
            <a:r>
              <a:rPr lang="en-IN" dirty="0"/>
              <a:t>Regulator provides:</a:t>
            </a:r>
          </a:p>
          <a:p>
            <a:pPr lvl="1"/>
            <a:r>
              <a:rPr lang="en-IN" dirty="0"/>
              <a:t>5V for relays/LCD</a:t>
            </a:r>
          </a:p>
          <a:p>
            <a:pPr lvl="1"/>
            <a:r>
              <a:rPr lang="en-IN" dirty="0"/>
              <a:t>3.3V for ESP32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18650 lithium-ion batteries</a:t>
            </a:r>
            <a:endParaRPr lang="en-IN" dirty="0"/>
          </a:p>
          <a:p>
            <a:pPr lvl="0"/>
            <a:r>
              <a:rPr lang="en-IN" dirty="0"/>
              <a:t>Charges during normal operation</a:t>
            </a:r>
          </a:p>
          <a:p>
            <a:pPr lvl="0"/>
            <a:r>
              <a:rPr lang="en-IN" dirty="0"/>
              <a:t>Supplies power during failure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09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CE32-1FE1-4B11-BEE6-A39CA4C1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499" y="618518"/>
            <a:ext cx="2262433" cy="1478570"/>
          </a:xfrm>
        </p:spPr>
        <p:txBody>
          <a:bodyPr/>
          <a:lstStyle/>
          <a:p>
            <a:r>
              <a:rPr lang="en-US" dirty="0"/>
              <a:t>working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ED18-D8B6-1811-4F06-886CC50E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199206"/>
          </a:xfrm>
        </p:spPr>
        <p:txBody>
          <a:bodyPr/>
          <a:lstStyle/>
          <a:p>
            <a:pPr lvl="0"/>
            <a:r>
              <a:rPr lang="en-IN" dirty="0"/>
              <a:t>AC power is converted to DC</a:t>
            </a:r>
          </a:p>
          <a:p>
            <a:pPr lvl="0"/>
            <a:r>
              <a:rPr lang="en-IN" dirty="0"/>
              <a:t>System powers ESP32 and charges battery</a:t>
            </a:r>
          </a:p>
          <a:p>
            <a:pPr lvl="0"/>
            <a:r>
              <a:rPr lang="en-IN" dirty="0"/>
              <a:t>ESP32 monitors sensors</a:t>
            </a:r>
          </a:p>
          <a:p>
            <a:pPr lvl="0"/>
            <a:r>
              <a:rPr lang="en-IN" dirty="0"/>
              <a:t>Relays control loads</a:t>
            </a:r>
          </a:p>
          <a:p>
            <a:pPr lvl="0"/>
            <a:r>
              <a:rPr lang="en-IN" dirty="0"/>
              <a:t>LCD displays system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583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150D-2929-D264-0AD9-B5CA23EA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893" y="618518"/>
            <a:ext cx="4986779" cy="1478570"/>
          </a:xfrm>
        </p:spPr>
        <p:txBody>
          <a:bodyPr/>
          <a:lstStyle/>
          <a:p>
            <a:r>
              <a:rPr lang="en-US" dirty="0"/>
              <a:t>Output of the project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C4557-668B-7D60-2336-33AC3B526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53" y="791851"/>
            <a:ext cx="10426045" cy="535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1BB4-A78C-7B30-EDA4-90027EFA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301" y="584461"/>
            <a:ext cx="2592372" cy="34879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advantage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56876-3C73-107A-96FC-56274BF2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216" y="735291"/>
            <a:ext cx="9916195" cy="5392132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Automatic operation</a:t>
            </a:r>
          </a:p>
          <a:p>
            <a:pPr lvl="0"/>
            <a:r>
              <a:rPr lang="en-IN" dirty="0"/>
              <a:t>Battery backup support</a:t>
            </a:r>
          </a:p>
          <a:p>
            <a:pPr lvl="0"/>
            <a:r>
              <a:rPr lang="en-IN" dirty="0"/>
              <a:t>Energy monitoring</a:t>
            </a:r>
          </a:p>
          <a:p>
            <a:pPr lvl="0"/>
            <a:r>
              <a:rPr lang="en-IN" dirty="0"/>
              <a:t>Low cost</a:t>
            </a:r>
          </a:p>
          <a:p>
            <a:r>
              <a:rPr lang="en-IN" dirty="0"/>
              <a:t>Easy to expand</a:t>
            </a:r>
          </a:p>
          <a:p>
            <a:pPr marL="0" indent="0">
              <a:buNone/>
            </a:pPr>
            <a:r>
              <a:rPr lang="en-IN" b="1" dirty="0"/>
              <a:t>   </a:t>
            </a:r>
            <a:r>
              <a:rPr lang="en-IN" sz="3600" b="1" dirty="0"/>
              <a:t>Limitations</a:t>
            </a:r>
          </a:p>
          <a:p>
            <a:pPr lvl="0"/>
            <a:r>
              <a:rPr lang="en-IN" dirty="0"/>
              <a:t>Limited battery capacity</a:t>
            </a:r>
          </a:p>
          <a:p>
            <a:pPr lvl="0"/>
            <a:r>
              <a:rPr lang="en-IN" dirty="0"/>
              <a:t>Manual wiring complexity</a:t>
            </a:r>
          </a:p>
          <a:p>
            <a:pPr lvl="0"/>
            <a:r>
              <a:rPr lang="en-IN" dirty="0"/>
              <a:t>Needs proper insulation for safety</a:t>
            </a:r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endParaRPr lang="en-IN" sz="36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36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0A72-3BBC-4820-E2A6-430EE4F6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369" y="1065228"/>
            <a:ext cx="4996206" cy="1470581"/>
          </a:xfrm>
        </p:spPr>
        <p:txBody>
          <a:bodyPr/>
          <a:lstStyle/>
          <a:p>
            <a:r>
              <a:rPr lang="en-IN" b="1" dirty="0"/>
              <a:t>Future Improvements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418FA-BBBF-C59D-0543-87954489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8"/>
            <a:ext cx="9905999" cy="2407354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Mobile app control (IoT)</a:t>
            </a:r>
          </a:p>
          <a:p>
            <a:pPr lvl="0"/>
            <a:r>
              <a:rPr lang="en-IN" dirty="0"/>
              <a:t>Solar charging integration</a:t>
            </a:r>
          </a:p>
          <a:p>
            <a:pPr lvl="0"/>
            <a:r>
              <a:rPr lang="en-IN" dirty="0"/>
              <a:t>Advanced monitoring dashboard</a:t>
            </a:r>
          </a:p>
          <a:p>
            <a:r>
              <a:rPr lang="en-IN" dirty="0"/>
              <a:t>Compact PCB design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574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8677-C561-3221-A218-13A7C2B4D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405" y="1066799"/>
            <a:ext cx="3308808" cy="2015766"/>
          </a:xfrm>
        </p:spPr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1434-3A4A-F860-8264-82EE39DFD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System provides:</a:t>
            </a:r>
          </a:p>
          <a:p>
            <a:pPr lvl="1"/>
            <a:r>
              <a:rPr lang="en-IN" dirty="0"/>
              <a:t>Reliable backup</a:t>
            </a:r>
          </a:p>
          <a:p>
            <a:pPr lvl="1"/>
            <a:r>
              <a:rPr lang="en-IN" dirty="0"/>
              <a:t>Smart control</a:t>
            </a:r>
          </a:p>
          <a:p>
            <a:pPr lvl="1"/>
            <a:r>
              <a:rPr lang="en-IN" dirty="0"/>
              <a:t>Monitoring capability</a:t>
            </a:r>
          </a:p>
          <a:p>
            <a:pPr lvl="0"/>
            <a:r>
              <a:rPr lang="en-IN" dirty="0"/>
              <a:t>Useful for real-world automation applications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922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70BB-2852-EFC9-A6B3-866A47C1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39505"/>
            <a:ext cx="9905998" cy="1234911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459963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82</TotalTime>
  <Words>509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Calibri</vt:lpstr>
      <vt:lpstr>Tw Cen MT</vt:lpstr>
      <vt:lpstr>Circuit</vt:lpstr>
      <vt:lpstr> </vt:lpstr>
      <vt:lpstr>team MEMBERS</vt:lpstr>
      <vt:lpstr>Abstract</vt:lpstr>
      <vt:lpstr>Block diagram  </vt:lpstr>
      <vt:lpstr>Existing system</vt:lpstr>
      <vt:lpstr>Proposed syetem</vt:lpstr>
      <vt:lpstr>Hardware Requirements and Software Requirements</vt:lpstr>
      <vt:lpstr>Power Supply Section and Power Supply Section</vt:lpstr>
      <vt:lpstr>working</vt:lpstr>
      <vt:lpstr>Output of the project</vt:lpstr>
      <vt:lpstr>advantage </vt:lpstr>
      <vt:lpstr>Future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Malini</dc:creator>
  <cp:lastModifiedBy>Hema Malini</cp:lastModifiedBy>
  <cp:revision>1</cp:revision>
  <dcterms:created xsi:type="dcterms:W3CDTF">2026-04-12T14:45:09Z</dcterms:created>
  <dcterms:modified xsi:type="dcterms:W3CDTF">2026-04-12T16:07:27Z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