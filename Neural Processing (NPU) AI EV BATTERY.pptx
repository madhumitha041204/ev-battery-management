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19050"/>
            <a:ext cx="12206817" cy="6867525"/>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1447096-B31A-4180-B81F-9D29B9EE7755}" type="datetimeFigureOut">
              <a:rPr lang="en-IN" smtClean="0"/>
            </a:fld>
            <a:endParaRPr lang="en-IN"/>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IN"/>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19E72084-61C5-4DDC-9162-5241C833A7F7}" type="slidenum">
              <a:rPr lang="en-IN" smtClean="0"/>
            </a:fld>
            <a:endParaRPr lang="en-IN"/>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1447096-B31A-4180-B81F-9D29B9EE7755}" type="datetimeFigureOut">
              <a:rPr lang="en-IN" smtClean="0"/>
            </a:fld>
            <a:endParaRPr lang="en-IN"/>
          </a:p>
        </p:txBody>
      </p:sp>
      <p:sp>
        <p:nvSpPr>
          <p:cNvPr id="5" name="Footer Placeholder 4"/>
          <p:cNvSpPr>
            <a:spLocks noGrp="1"/>
          </p:cNvSpPr>
          <p:nvPr>
            <p:ph type="ftr" sz="quarter" idx="11"/>
          </p:nvPr>
        </p:nvSpPr>
        <p:spPr/>
        <p:txBody>
          <a:bodyPr/>
          <a:p>
            <a:endParaRPr lang="en-IN"/>
          </a:p>
        </p:txBody>
      </p:sp>
      <p:sp>
        <p:nvSpPr>
          <p:cNvPr id="6" name="Slide Number Placeholder 5"/>
          <p:cNvSpPr>
            <a:spLocks noGrp="1"/>
          </p:cNvSpPr>
          <p:nvPr>
            <p:ph type="sldNum" sz="quarter" idx="12"/>
          </p:nvPr>
        </p:nvSpPr>
        <p:spPr/>
        <p:txBody>
          <a:bodyPr/>
          <a:p>
            <a:fld id="{19E72084-61C5-4DDC-9162-5241C833A7F7}" type="slidenum">
              <a:rPr lang="en-IN" smtClean="0"/>
            </a:fld>
            <a:endParaRPr lang="en-IN"/>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1447096-B31A-4180-B81F-9D29B9EE7755}" type="datetimeFigureOut">
              <a:rPr lang="en-IN" smtClean="0"/>
            </a:fld>
            <a:endParaRPr lang="en-IN"/>
          </a:p>
        </p:txBody>
      </p:sp>
      <p:sp>
        <p:nvSpPr>
          <p:cNvPr id="5" name="Footer Placeholder 4"/>
          <p:cNvSpPr>
            <a:spLocks noGrp="1"/>
          </p:cNvSpPr>
          <p:nvPr>
            <p:ph type="ftr" sz="quarter" idx="11"/>
          </p:nvPr>
        </p:nvSpPr>
        <p:spPr/>
        <p:txBody>
          <a:bodyPr/>
          <a:p>
            <a:endParaRPr lang="en-IN"/>
          </a:p>
        </p:txBody>
      </p:sp>
      <p:sp>
        <p:nvSpPr>
          <p:cNvPr id="6" name="Slide Number Placeholder 5"/>
          <p:cNvSpPr>
            <a:spLocks noGrp="1"/>
          </p:cNvSpPr>
          <p:nvPr>
            <p:ph type="sldNum" sz="quarter" idx="12"/>
          </p:nvPr>
        </p:nvSpPr>
        <p:spPr/>
        <p:txBody>
          <a:bodyPr/>
          <a:p>
            <a:fld id="{19E72084-61C5-4DDC-9162-5241C833A7F7}" type="slidenum">
              <a:rPr lang="en-IN" smtClean="0"/>
            </a:fld>
            <a:endParaRPr lang="en-IN"/>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1447096-B31A-4180-B81F-9D29B9EE7755}" type="datetimeFigureOut">
              <a:rPr lang="en-IN" smtClean="0"/>
            </a:fld>
            <a:endParaRPr lang="en-IN"/>
          </a:p>
        </p:txBody>
      </p:sp>
      <p:sp>
        <p:nvSpPr>
          <p:cNvPr id="6" name="Footer Placeholder 5"/>
          <p:cNvSpPr>
            <a:spLocks noGrp="1"/>
          </p:cNvSpPr>
          <p:nvPr>
            <p:ph type="ftr" sz="quarter" idx="11"/>
          </p:nvPr>
        </p:nvSpPr>
        <p:spPr/>
        <p:txBody>
          <a:bodyPr/>
          <a:p>
            <a:endParaRPr lang="en-IN"/>
          </a:p>
        </p:txBody>
      </p:sp>
      <p:sp>
        <p:nvSpPr>
          <p:cNvPr id="7" name="Slide Number Placeholder 6"/>
          <p:cNvSpPr>
            <a:spLocks noGrp="1"/>
          </p:cNvSpPr>
          <p:nvPr>
            <p:ph type="sldNum" sz="quarter" idx="12"/>
          </p:nvPr>
        </p:nvSpPr>
        <p:spPr/>
        <p:txBody>
          <a:bodyPr/>
          <a:p>
            <a:fld id="{19E72084-61C5-4DDC-9162-5241C833A7F7}" type="slidenum">
              <a:rPr lang="en-IN" smtClean="0"/>
            </a:fld>
            <a:endParaRPr lang="en-IN"/>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1447096-B31A-4180-B81F-9D29B9EE7755}" type="datetimeFigureOut">
              <a:rPr lang="en-IN" smtClean="0"/>
            </a:fld>
            <a:endParaRPr lang="en-IN"/>
          </a:p>
        </p:txBody>
      </p:sp>
      <p:sp>
        <p:nvSpPr>
          <p:cNvPr id="8" name="Footer Placeholder 7"/>
          <p:cNvSpPr>
            <a:spLocks noGrp="1"/>
          </p:cNvSpPr>
          <p:nvPr>
            <p:ph type="ftr" sz="quarter" idx="11"/>
          </p:nvPr>
        </p:nvSpPr>
        <p:spPr/>
        <p:txBody>
          <a:bodyPr/>
          <a:p>
            <a:endParaRPr lang="en-IN"/>
          </a:p>
        </p:txBody>
      </p:sp>
      <p:sp>
        <p:nvSpPr>
          <p:cNvPr id="9" name="Slide Number Placeholder 8"/>
          <p:cNvSpPr>
            <a:spLocks noGrp="1"/>
          </p:cNvSpPr>
          <p:nvPr>
            <p:ph type="sldNum" sz="quarter" idx="12"/>
          </p:nvPr>
        </p:nvSpPr>
        <p:spPr/>
        <p:txBody>
          <a:bodyPr/>
          <a:p>
            <a:fld id="{19E72084-61C5-4DDC-9162-5241C833A7F7}" type="slidenum">
              <a:rPr lang="en-IN" smtClean="0"/>
            </a:fld>
            <a:endParaRPr lang="en-IN"/>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1447096-B31A-4180-B81F-9D29B9EE7755}" type="datetimeFigureOut">
              <a:rPr lang="en-IN" smtClean="0"/>
            </a:fld>
            <a:endParaRPr lang="en-IN"/>
          </a:p>
        </p:txBody>
      </p:sp>
      <p:sp>
        <p:nvSpPr>
          <p:cNvPr id="4" name="Footer Placeholder 3"/>
          <p:cNvSpPr>
            <a:spLocks noGrp="1"/>
          </p:cNvSpPr>
          <p:nvPr>
            <p:ph type="ftr" sz="quarter" idx="11"/>
          </p:nvPr>
        </p:nvSpPr>
        <p:spPr/>
        <p:txBody>
          <a:bodyPr/>
          <a:p>
            <a:endParaRPr lang="en-IN"/>
          </a:p>
        </p:txBody>
      </p:sp>
      <p:sp>
        <p:nvSpPr>
          <p:cNvPr id="5" name="Slide Number Placeholder 4"/>
          <p:cNvSpPr>
            <a:spLocks noGrp="1"/>
          </p:cNvSpPr>
          <p:nvPr>
            <p:ph type="sldNum" sz="quarter" idx="12"/>
          </p:nvPr>
        </p:nvSpPr>
        <p:spPr/>
        <p:txBody>
          <a:bodyPr/>
          <a:p>
            <a:fld id="{19E72084-61C5-4DDC-9162-5241C833A7F7}" type="slidenum">
              <a:rPr lang="en-IN" smtClean="0"/>
            </a:fld>
            <a:endParaRPr lang="en-IN"/>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1447096-B31A-4180-B81F-9D29B9EE7755}" type="datetimeFigureOut">
              <a:rPr lang="en-IN" smtClean="0"/>
            </a:fld>
            <a:endParaRPr lang="en-IN"/>
          </a:p>
        </p:txBody>
      </p:sp>
      <p:sp>
        <p:nvSpPr>
          <p:cNvPr id="3" name="Footer Placeholder 2"/>
          <p:cNvSpPr>
            <a:spLocks noGrp="1"/>
          </p:cNvSpPr>
          <p:nvPr>
            <p:ph type="ftr" sz="quarter" idx="11"/>
          </p:nvPr>
        </p:nvSpPr>
        <p:spPr/>
        <p:txBody>
          <a:bodyPr/>
          <a:p>
            <a:endParaRPr lang="en-IN"/>
          </a:p>
        </p:txBody>
      </p:sp>
      <p:sp>
        <p:nvSpPr>
          <p:cNvPr id="4" name="Slide Number Placeholder 3"/>
          <p:cNvSpPr>
            <a:spLocks noGrp="1"/>
          </p:cNvSpPr>
          <p:nvPr>
            <p:ph type="sldNum" sz="quarter" idx="12"/>
          </p:nvPr>
        </p:nvSpPr>
        <p:spPr/>
        <p:txBody>
          <a:bodyPr/>
          <a:p>
            <a:fld id="{19E72084-61C5-4DDC-9162-5241C833A7F7}" type="slidenum">
              <a:rPr lang="en-IN" smtClean="0"/>
            </a:fld>
            <a:endParaRPr lang="en-IN"/>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1447096-B31A-4180-B81F-9D29B9EE7755}" type="datetimeFigureOut">
              <a:rPr lang="en-IN" smtClean="0"/>
            </a:fld>
            <a:endParaRPr lang="en-IN"/>
          </a:p>
        </p:txBody>
      </p:sp>
      <p:sp>
        <p:nvSpPr>
          <p:cNvPr id="6" name="Footer Placeholder 5"/>
          <p:cNvSpPr>
            <a:spLocks noGrp="1"/>
          </p:cNvSpPr>
          <p:nvPr>
            <p:ph type="ftr" sz="quarter" idx="11"/>
          </p:nvPr>
        </p:nvSpPr>
        <p:spPr/>
        <p:txBody>
          <a:bodyPr/>
          <a:p>
            <a:endParaRPr lang="en-IN"/>
          </a:p>
        </p:txBody>
      </p:sp>
      <p:sp>
        <p:nvSpPr>
          <p:cNvPr id="7" name="Slide Number Placeholder 6"/>
          <p:cNvSpPr>
            <a:spLocks noGrp="1"/>
          </p:cNvSpPr>
          <p:nvPr>
            <p:ph type="sldNum" sz="quarter" idx="12"/>
          </p:nvPr>
        </p:nvSpPr>
        <p:spPr/>
        <p:txBody>
          <a:bodyPr/>
          <a:p>
            <a:fld id="{19E72084-61C5-4DDC-9162-5241C833A7F7}" type="slidenum">
              <a:rPr lang="en-IN" smtClean="0"/>
            </a:fld>
            <a:endParaRPr lang="en-IN"/>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1447096-B31A-4180-B81F-9D29B9EE7755}" type="datetimeFigureOut">
              <a:rPr lang="en-IN" smtClean="0"/>
            </a:fld>
            <a:endParaRPr lang="en-IN"/>
          </a:p>
        </p:txBody>
      </p:sp>
      <p:sp>
        <p:nvSpPr>
          <p:cNvPr id="6" name="Footer Placeholder 5"/>
          <p:cNvSpPr>
            <a:spLocks noGrp="1"/>
          </p:cNvSpPr>
          <p:nvPr>
            <p:ph type="ftr" sz="quarter" idx="11"/>
          </p:nvPr>
        </p:nvSpPr>
        <p:spPr/>
        <p:txBody>
          <a:bodyPr/>
          <a:p>
            <a:endParaRPr lang="en-IN"/>
          </a:p>
        </p:txBody>
      </p:sp>
      <p:sp>
        <p:nvSpPr>
          <p:cNvPr id="7" name="Slide Number Placeholder 6"/>
          <p:cNvSpPr>
            <a:spLocks noGrp="1"/>
          </p:cNvSpPr>
          <p:nvPr>
            <p:ph type="sldNum" sz="quarter" idx="12"/>
          </p:nvPr>
        </p:nvSpPr>
        <p:spPr/>
        <p:txBody>
          <a:bodyPr/>
          <a:p>
            <a:fld id="{19E72084-61C5-4DDC-9162-5241C833A7F7}" type="slidenum">
              <a:rPr lang="en-IN" smtClean="0"/>
            </a:fld>
            <a:endParaRPr lang="en-IN"/>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1447096-B31A-4180-B81F-9D29B9EE7755}" type="datetimeFigureOut">
              <a:rPr lang="en-IN" smtClean="0"/>
            </a:fld>
            <a:endParaRPr lang="en-IN"/>
          </a:p>
        </p:txBody>
      </p:sp>
      <p:sp>
        <p:nvSpPr>
          <p:cNvPr id="5" name="Footer Placeholder 4"/>
          <p:cNvSpPr>
            <a:spLocks noGrp="1"/>
          </p:cNvSpPr>
          <p:nvPr>
            <p:ph type="ftr" sz="quarter" idx="11"/>
          </p:nvPr>
        </p:nvSpPr>
        <p:spPr/>
        <p:txBody>
          <a:bodyPr/>
          <a:p>
            <a:endParaRPr lang="en-IN"/>
          </a:p>
        </p:txBody>
      </p:sp>
      <p:sp>
        <p:nvSpPr>
          <p:cNvPr id="6" name="Slide Number Placeholder 5"/>
          <p:cNvSpPr>
            <a:spLocks noGrp="1"/>
          </p:cNvSpPr>
          <p:nvPr>
            <p:ph type="sldNum" sz="quarter" idx="12"/>
          </p:nvPr>
        </p:nvSpPr>
        <p:spPr/>
        <p:txBody>
          <a:bodyPr/>
          <a:p>
            <a:fld id="{19E72084-61C5-4DDC-9162-5241C833A7F7}" type="slidenum">
              <a:rPr lang="en-IN" smtClean="0"/>
            </a:fld>
            <a:endParaRPr lang="en-IN"/>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1447096-B31A-4180-B81F-9D29B9EE7755}" type="datetimeFigureOut">
              <a:rPr lang="en-IN" smtClean="0"/>
            </a:fld>
            <a:endParaRPr lang="en-IN"/>
          </a:p>
        </p:txBody>
      </p:sp>
      <p:sp>
        <p:nvSpPr>
          <p:cNvPr id="5" name="Footer Placeholder 4"/>
          <p:cNvSpPr>
            <a:spLocks noGrp="1"/>
          </p:cNvSpPr>
          <p:nvPr>
            <p:ph type="ftr" sz="quarter" idx="11"/>
          </p:nvPr>
        </p:nvSpPr>
        <p:spPr/>
        <p:txBody>
          <a:bodyPr/>
          <a:p>
            <a:endParaRPr lang="en-IN"/>
          </a:p>
        </p:txBody>
      </p:sp>
      <p:sp>
        <p:nvSpPr>
          <p:cNvPr id="6" name="Slide Number Placeholder 5"/>
          <p:cNvSpPr>
            <a:spLocks noGrp="1"/>
          </p:cNvSpPr>
          <p:nvPr>
            <p:ph type="sldNum" sz="quarter" idx="12"/>
          </p:nvPr>
        </p:nvSpPr>
        <p:spPr/>
        <p:txBody>
          <a:bodyPr/>
          <a:p>
            <a:fld id="{19E72084-61C5-4DDC-9162-5241C833A7F7}" type="slidenum">
              <a:rPr lang="en-IN" smtClean="0"/>
            </a:fld>
            <a:endParaRPr lang="en-IN"/>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8"/>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1447096-B31A-4180-B81F-9D29B9EE7755}" type="datetimeFigureOut">
              <a:rPr lang="en-IN" smtClean="0"/>
            </a:fld>
            <a:endParaRPr lang="en-IN"/>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IN"/>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19E72084-61C5-4DDC-9162-5241C833A7F7}"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rtl="0" fontAlgn="base">
        <a:spcBef>
          <a:spcPct val="0"/>
        </a:spcBef>
        <a:spcAft>
          <a:spcPct val="0"/>
        </a:spcAft>
        <a:defRPr sz="3600" kern="1200">
          <a:solidFill>
            <a:schemeClr val="bg1"/>
          </a:solidFill>
          <a:latin typeface="+mj-lt"/>
          <a:ea typeface="+mj-ea"/>
          <a:cs typeface="+mj-cs"/>
        </a:defRPr>
      </a:lvl1pPr>
      <a:lvl2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r"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altLang="en-US" sz="4400" b="1" dirty="0">
                <a:latin typeface="Arial Rounded MT Bold" panose="020F0704030504030204" pitchFamily="34" charset="0"/>
              </a:rPr>
              <a:t>AI-Driven NPU-Enabled Battery Management for Electric Vehicles: Predictive Cell Voltage and Optimization Planning</a:t>
            </a:r>
            <a:endParaRPr lang="en-US" altLang="en-US" sz="4400" b="1" dirty="0">
              <a:latin typeface="Arial Rounded MT Bold" panose="020F07040305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Abstract</a:t>
            </a:r>
            <a:endParaRPr lang="en-IN" b="1" dirty="0"/>
          </a:p>
        </p:txBody>
      </p:sp>
      <p:sp>
        <p:nvSpPr>
          <p:cNvPr id="3" name="Content Placeholder 2"/>
          <p:cNvSpPr>
            <a:spLocks noGrp="1"/>
          </p:cNvSpPr>
          <p:nvPr>
            <p:ph idx="1"/>
          </p:nvPr>
        </p:nvSpPr>
        <p:spPr>
          <a:xfrm>
            <a:off x="1041400" y="1235075"/>
            <a:ext cx="9332595" cy="4195445"/>
          </a:xfrm>
        </p:spPr>
        <p:txBody>
          <a:bodyPr>
            <a:noAutofit/>
          </a:bodyPr>
          <a:lstStyle/>
          <a:p>
            <a:pPr algn="just">
              <a:lnSpc>
                <a:spcPct val="150000"/>
              </a:lnSpc>
            </a:pPr>
            <a:r>
              <a:rPr lang="en-US" altLang="en-US" sz="1700" dirty="0"/>
              <a:t>Electric vehicle battery packs consist of hundreds of lithium-ion cells that degrade at different rates during real-time driving. Conventional battery management systems rely on threshold-based monitoring and average measurements, which are unable to predict individual cell behavior accurately. This limitation often leads to sudden voltage drops, reduced driving range, and undetected cell imbalance that affects overall system performance.</a:t>
            </a:r>
            <a:endParaRPr lang="en-US" altLang="en-US" sz="1700" dirty="0"/>
          </a:p>
          <a:p>
            <a:pPr algn="just">
              <a:lnSpc>
                <a:spcPct val="150000"/>
              </a:lnSpc>
            </a:pPr>
            <a:r>
              <a:rPr lang="en-US" altLang="en-US" sz="1700" dirty="0"/>
              <a:t>This project presents an AI-driven, NPU-enabled Battery Management System for electric vehicles that performs real-time cell voltage modeling and optimization planning. A Gated Recurrent Unit (GRU) network is used to forecast future voltage trends of individual cells based on historical sensor data. K-Means clustering is then applied to categorize cells according to their operating condition, enabling the system to identify weak or unstable cells at an early stage. The entire inference pipeline is deployed on a Neural Processing Unit (NPU) to achieve high-speed computation with minimal power consumption.</a:t>
            </a:r>
            <a:endParaRPr lang="en-US" alt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580104"/>
            <a:ext cx="8946541" cy="5668296"/>
          </a:xfrm>
        </p:spPr>
        <p:txBody>
          <a:bodyPr>
            <a:normAutofit fontScale="90000"/>
          </a:bodyPr>
          <a:lstStyle/>
          <a:p>
            <a:pPr algn="just">
              <a:lnSpc>
                <a:spcPct val="150000"/>
              </a:lnSpc>
            </a:pPr>
            <a:r>
              <a:rPr lang="en-US" altLang="en-US" dirty="0"/>
              <a:t>The proposed system supports proactive balancing and intelligent control actions to maintain uniform voltage distribution across the battery pack. By enabling real-time prediction and optimization planning at the edge, this approach improves operational reliability, extends battery lifespan, and enhances overall electric vehicle performance without relying on cloud connectivity.</a:t>
            </a: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IN" sz="4400" b="1"/>
              <a:t>Block diagram</a:t>
            </a:r>
            <a:endParaRPr lang="en-US" altLang="en-IN" sz="4400" b="1"/>
          </a:p>
        </p:txBody>
      </p:sp>
      <p:graphicFrame>
        <p:nvGraphicFramePr>
          <p:cNvPr id="5" name="Object 4"/>
          <p:cNvGraphicFramePr/>
          <p:nvPr/>
        </p:nvGraphicFramePr>
        <p:xfrm>
          <a:off x="3105785" y="1328420"/>
          <a:ext cx="5444490" cy="4921885"/>
        </p:xfrm>
        <a:graphic>
          <a:graphicData uri="http://schemas.openxmlformats.org/presentationml/2006/ole">
            <mc:AlternateContent xmlns:mc="http://schemas.openxmlformats.org/markup-compatibility/2006">
              <mc:Choice xmlns:v="urn:schemas-microsoft-com:vml" Requires="v">
                <p:oleObj spid="_x0000_s6" name="" r:id="rId1" imgW="4905375" imgH="5638800" progId="Paint.Picture">
                  <p:embed/>
                </p:oleObj>
              </mc:Choice>
              <mc:Fallback>
                <p:oleObj name="" r:id="rId1" imgW="4905375" imgH="5638800" progId="Paint.Picture">
                  <p:embed/>
                  <p:pic>
                    <p:nvPicPr>
                      <p:cNvPr id="0" name="Picture 5"/>
                      <p:cNvPicPr/>
                      <p:nvPr/>
                    </p:nvPicPr>
                    <p:blipFill>
                      <a:blip r:embed="rId2"/>
                      <a:stretch>
                        <a:fillRect/>
                      </a:stretch>
                    </p:blipFill>
                    <p:spPr>
                      <a:xfrm>
                        <a:off x="3105785" y="1328420"/>
                        <a:ext cx="5444490" cy="4921885"/>
                      </a:xfrm>
                      <a:prstGeom prst="rect">
                        <a:avLst/>
                      </a:prstGeom>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200" y="-65405"/>
            <a:ext cx="9404985" cy="1230630"/>
          </a:xfrm>
        </p:spPr>
        <p:txBody>
          <a:bodyPr/>
          <a:lstStyle/>
          <a:p>
            <a:pPr algn="ctr"/>
            <a:r>
              <a:rPr lang="en-US" b="1" dirty="0"/>
              <a:t>Existing system</a:t>
            </a:r>
            <a:endParaRPr lang="en-IN" b="1" dirty="0"/>
          </a:p>
        </p:txBody>
      </p:sp>
      <p:sp>
        <p:nvSpPr>
          <p:cNvPr id="3" name="Content Placeholder 2"/>
          <p:cNvSpPr>
            <a:spLocks noGrp="1"/>
          </p:cNvSpPr>
          <p:nvPr>
            <p:ph idx="1"/>
          </p:nvPr>
        </p:nvSpPr>
        <p:spPr>
          <a:xfrm>
            <a:off x="1102995" y="1683385"/>
            <a:ext cx="9332595" cy="4195445"/>
          </a:xfrm>
        </p:spPr>
        <p:txBody>
          <a:bodyPr>
            <a:normAutofit fontScale="50000"/>
          </a:bodyPr>
          <a:lstStyle/>
          <a:p>
            <a:pPr marL="0" indent="0" algn="just">
              <a:lnSpc>
                <a:spcPct val="150000"/>
              </a:lnSpc>
              <a:buNone/>
            </a:pPr>
            <a:r>
              <a:rPr lang="en-US" altLang="en-US" dirty="0"/>
              <a:t>1)Conventional battery management systems monitor average pack voltage and current.Alerts are generated only when predefined voltage or temperature limits are exceeded.</a:t>
            </a:r>
            <a:endParaRPr lang="en-US" altLang="en-US" dirty="0"/>
          </a:p>
          <a:p>
            <a:pPr marL="0" indent="0" algn="just">
              <a:lnSpc>
                <a:spcPct val="150000"/>
              </a:lnSpc>
              <a:buNone/>
            </a:pPr>
            <a:r>
              <a:rPr lang="en-US" altLang="en-US" dirty="0"/>
              <a:t>2)Individual cell behavior or early imbalance cannot be predicted.Weak or degrading cells are detected only after significant performance drop.</a:t>
            </a:r>
            <a:endParaRPr lang="en-US" altLang="en-US" dirty="0"/>
          </a:p>
          <a:p>
            <a:pPr marL="0" indent="0" algn="just">
              <a:lnSpc>
                <a:spcPct val="150000"/>
              </a:lnSpc>
              <a:buNone/>
            </a:pPr>
            <a:r>
              <a:rPr lang="en-US" altLang="en-US" dirty="0"/>
              <a:t>3)Only basic passive cell balancing is applied.No active optimization is performed to maintain uniform cell voltage.</a:t>
            </a:r>
            <a:endParaRPr lang="en-US" altLang="en-US" dirty="0"/>
          </a:p>
          <a:p>
            <a:pPr marL="0" indent="0" algn="just">
              <a:lnSpc>
                <a:spcPct val="150000"/>
              </a:lnSpc>
              <a:buNone/>
            </a:pPr>
            <a:r>
              <a:rPr lang="en-US" altLang="en-US" dirty="0"/>
              <a:t>4)Processing is slow and limited to simple threshold-based decisions.Real-time monitoring and analysis of all cells is not possible.</a:t>
            </a:r>
            <a:endParaRPr lang="en-US" altLang="en-US" dirty="0"/>
          </a:p>
          <a:p>
            <a:pPr marL="0" indent="0" algn="just">
              <a:lnSpc>
                <a:spcPct val="150000"/>
              </a:lnSpc>
              <a:buNone/>
            </a:pPr>
            <a:r>
              <a:rPr lang="en-US" altLang="en-US" dirty="0"/>
              <a:t>5)No AI or advanced computing is used for prediction.The system cannot forecast future cell behavior or prevent issues proactively.</a:t>
            </a: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350" y="-114300"/>
            <a:ext cx="9404985" cy="1230630"/>
          </a:xfrm>
        </p:spPr>
        <p:txBody>
          <a:bodyPr/>
          <a:lstStyle/>
          <a:p>
            <a:pPr algn="ctr"/>
            <a:r>
              <a:rPr lang="en-US" b="1" dirty="0"/>
              <a:t>Proposed syetem</a:t>
            </a:r>
            <a:endParaRPr lang="en-IN" b="1" dirty="0"/>
          </a:p>
        </p:txBody>
      </p:sp>
      <p:sp>
        <p:nvSpPr>
          <p:cNvPr id="3" name="Content Placeholder 2"/>
          <p:cNvSpPr>
            <a:spLocks noGrp="1"/>
          </p:cNvSpPr>
          <p:nvPr>
            <p:ph idx="1"/>
          </p:nvPr>
        </p:nvSpPr>
        <p:spPr>
          <a:xfrm>
            <a:off x="1102995" y="1683385"/>
            <a:ext cx="9332595" cy="4195445"/>
          </a:xfrm>
        </p:spPr>
        <p:txBody>
          <a:bodyPr>
            <a:normAutofit fontScale="50000"/>
          </a:bodyPr>
          <a:lstStyle/>
          <a:p>
            <a:pPr marL="0" indent="0" algn="just">
              <a:lnSpc>
                <a:spcPct val="150000"/>
              </a:lnSpc>
              <a:buNone/>
            </a:pPr>
            <a:r>
              <a:rPr lang="en-US" altLang="en-US" dirty="0"/>
              <a:t>1.The system uses an NPU-enabled processor for high-speed computation.GRU-based models predict individual cell voltages in real time.</a:t>
            </a:r>
            <a:endParaRPr lang="en-US" altLang="en-US" dirty="0"/>
          </a:p>
          <a:p>
            <a:pPr marL="0" indent="0" algn="just">
              <a:lnSpc>
                <a:spcPct val="150000"/>
              </a:lnSpc>
              <a:buNone/>
            </a:pPr>
            <a:r>
              <a:rPr lang="en-US" altLang="en-US" dirty="0"/>
              <a:t>2.K-Means clustering categorizes cells based on their operating condition.Weak or unstable cells are identified before they affect overall performance.</a:t>
            </a:r>
            <a:endParaRPr lang="en-US" altLang="en-US" dirty="0"/>
          </a:p>
          <a:p>
            <a:pPr marL="0" indent="0" algn="just">
              <a:lnSpc>
                <a:spcPct val="150000"/>
              </a:lnSpc>
              <a:buNone/>
            </a:pPr>
            <a:r>
              <a:rPr lang="en-US" altLang="en-US" dirty="0"/>
              <a:t>3.Active cell balancing is applied based on prediction and optimization.Voltage is maintained uniformly across the battery pack during operation.</a:t>
            </a:r>
            <a:endParaRPr lang="en-US" altLang="en-US" dirty="0"/>
          </a:p>
          <a:p>
            <a:pPr marL="0" indent="0" algn="just">
              <a:lnSpc>
                <a:spcPct val="150000"/>
              </a:lnSpc>
              <a:buNone/>
            </a:pPr>
            <a:r>
              <a:rPr lang="en-US" altLang="en-US" dirty="0"/>
              <a:t>4.Real-time monitoring and analysis allow proactive control actions.The system adjusts current and charging strategies dynamically.</a:t>
            </a:r>
            <a:endParaRPr lang="en-US" altLang="en-US" dirty="0"/>
          </a:p>
          <a:p>
            <a:pPr marL="0" indent="0" algn="just">
              <a:lnSpc>
                <a:spcPct val="150000"/>
              </a:lnSpc>
              <a:buNone/>
            </a:pPr>
            <a:r>
              <a:rPr lang="en-US" altLang="en-US" dirty="0"/>
              <a:t>5.AI-driven prediction and optimization improve battery reliability.Overall lifespan is extended, and performance is enhanced without cloud dependency.</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095" y="-100330"/>
            <a:ext cx="9404985" cy="1230630"/>
          </a:xfrm>
        </p:spPr>
        <p:txBody>
          <a:bodyPr/>
          <a:lstStyle/>
          <a:p>
            <a:pPr algn="ctr"/>
            <a:r>
              <a:rPr lang="en-US" altLang="en-IN" b="1" dirty="0"/>
              <a:t>Hardware Requirements</a:t>
            </a:r>
            <a:endParaRPr lang="en-US" altLang="en-IN" b="1" dirty="0"/>
          </a:p>
        </p:txBody>
      </p:sp>
      <p:sp>
        <p:nvSpPr>
          <p:cNvPr id="3" name="Content Placeholder 2"/>
          <p:cNvSpPr>
            <a:spLocks noGrp="1"/>
          </p:cNvSpPr>
          <p:nvPr>
            <p:ph idx="1"/>
          </p:nvPr>
        </p:nvSpPr>
        <p:spPr>
          <a:xfrm>
            <a:off x="1155700" y="1437640"/>
            <a:ext cx="9332595" cy="4195445"/>
          </a:xfrm>
        </p:spPr>
        <p:txBody>
          <a:bodyPr>
            <a:normAutofit fontScale="40000"/>
          </a:bodyPr>
          <a:lstStyle/>
          <a:p>
            <a:pPr marL="0" indent="0" algn="just">
              <a:lnSpc>
                <a:spcPct val="150000"/>
              </a:lnSpc>
              <a:buNone/>
            </a:pPr>
            <a:r>
              <a:rPr lang="en-US" altLang="en-US" dirty="0"/>
              <a:t>1)NPU-Enabled Edge AI Processor Board</a:t>
            </a:r>
            <a:endParaRPr lang="en-US" altLang="en-US" dirty="0"/>
          </a:p>
          <a:p>
            <a:pPr marL="0" indent="0" algn="just">
              <a:lnSpc>
                <a:spcPct val="150000"/>
              </a:lnSpc>
              <a:buNone/>
            </a:pPr>
            <a:r>
              <a:rPr lang="en-US" altLang="en-US" dirty="0"/>
              <a:t>2)Microcontroller Unit (MCU)</a:t>
            </a:r>
            <a:endParaRPr lang="en-US" altLang="en-US" dirty="0"/>
          </a:p>
          <a:p>
            <a:pPr marL="0" indent="0" algn="just">
              <a:lnSpc>
                <a:spcPct val="150000"/>
              </a:lnSpc>
              <a:buNone/>
            </a:pPr>
            <a:r>
              <a:rPr lang="en-US" altLang="en-US" dirty="0"/>
              <a:t>3)Multi-Cell Battery Voltage Monitoring IC</a:t>
            </a:r>
            <a:endParaRPr lang="en-US" altLang="en-US" dirty="0"/>
          </a:p>
          <a:p>
            <a:pPr marL="0" indent="0" algn="just">
              <a:lnSpc>
                <a:spcPct val="150000"/>
              </a:lnSpc>
              <a:buNone/>
            </a:pPr>
            <a:r>
              <a:rPr lang="en-US" altLang="en-US" dirty="0"/>
              <a:t>4)Battery Temperature Sensors</a:t>
            </a:r>
            <a:endParaRPr lang="en-US" altLang="en-US" dirty="0"/>
          </a:p>
          <a:p>
            <a:pPr marL="0" indent="0" algn="just">
              <a:lnSpc>
                <a:spcPct val="150000"/>
              </a:lnSpc>
              <a:buNone/>
            </a:pPr>
            <a:r>
              <a:rPr lang="en-US" altLang="en-US" dirty="0"/>
              <a:t>5)Current Sensor Module</a:t>
            </a:r>
            <a:endParaRPr lang="en-US" altLang="en-US" dirty="0"/>
          </a:p>
          <a:p>
            <a:pPr marL="0" indent="0" algn="just">
              <a:lnSpc>
                <a:spcPct val="150000"/>
              </a:lnSpc>
              <a:buNone/>
            </a:pPr>
            <a:r>
              <a:rPr lang="en-US" altLang="en-US" dirty="0"/>
              <a:t>6)Active / Passive Cell Balancing Circuit</a:t>
            </a:r>
            <a:endParaRPr lang="en-US" altLang="en-US" dirty="0"/>
          </a:p>
          <a:p>
            <a:pPr marL="0" indent="0" algn="just">
              <a:lnSpc>
                <a:spcPct val="150000"/>
              </a:lnSpc>
              <a:buNone/>
            </a:pPr>
            <a:r>
              <a:rPr lang="en-US" altLang="en-US" dirty="0"/>
              <a:t>7)Isolated DC-DC Converter</a:t>
            </a:r>
            <a:endParaRPr lang="en-US" altLang="en-US" dirty="0"/>
          </a:p>
          <a:p>
            <a:pPr marL="0" indent="0" algn="just">
              <a:lnSpc>
                <a:spcPct val="150000"/>
              </a:lnSpc>
              <a:buNone/>
            </a:pPr>
            <a:r>
              <a:rPr lang="en-US" altLang="en-US" dirty="0"/>
              <a:t>8)UART  Interface Modules</a:t>
            </a:r>
            <a:endParaRPr lang="en-US" altLang="en-US" dirty="0"/>
          </a:p>
          <a:p>
            <a:pPr marL="0" indent="0" algn="just">
              <a:lnSpc>
                <a:spcPct val="150000"/>
              </a:lnSpc>
              <a:buNone/>
            </a:pPr>
            <a:r>
              <a:rPr lang="en-US" altLang="en-US" dirty="0"/>
              <a:t>9)LCD Display Module</a:t>
            </a:r>
            <a:endParaRPr lang="en-US" altLang="en-US" dirty="0"/>
          </a:p>
          <a:p>
            <a:pPr marL="0" indent="0" algn="just">
              <a:lnSpc>
                <a:spcPct val="150000"/>
              </a:lnSpc>
              <a:buNone/>
            </a:pPr>
            <a:r>
              <a:rPr lang="en-US" altLang="en-US" dirty="0"/>
              <a:t>10)Thermal Cut-Off Relay Module</a:t>
            </a:r>
            <a:endParaRPr lang="en-US" altLang="en-US" dirty="0"/>
          </a:p>
          <a:p>
            <a:pPr marL="0" indent="0" algn="just">
              <a:lnSpc>
                <a:spcPct val="150000"/>
              </a:lnSpc>
              <a:buNone/>
            </a:pPr>
            <a:r>
              <a:rPr lang="en-US" altLang="en-US" dirty="0"/>
              <a:t>11)Resettable  Protection Circuit</a:t>
            </a:r>
            <a:endParaRPr lang="en-US" altLang="en-US" dirty="0"/>
          </a:p>
          <a:p>
            <a:pPr marL="0" indent="0" algn="just">
              <a:lnSpc>
                <a:spcPct val="150000"/>
              </a:lnSpc>
              <a:buNone/>
            </a:pPr>
            <a:r>
              <a:rPr lang="en-US" altLang="en-US" dirty="0"/>
              <a:t>12)Power Supply / Battery Cell </a:t>
            </a:r>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795" y="74930"/>
            <a:ext cx="9404985" cy="905510"/>
          </a:xfrm>
        </p:spPr>
        <p:txBody>
          <a:bodyPr/>
          <a:lstStyle/>
          <a:p>
            <a:pPr algn="ctr"/>
            <a:r>
              <a:rPr lang="en-US" altLang="en-IN" b="1" dirty="0"/>
              <a:t>Software Requirements</a:t>
            </a:r>
            <a:endParaRPr lang="en-US" altLang="en-IN" b="1" dirty="0"/>
          </a:p>
        </p:txBody>
      </p:sp>
      <p:sp>
        <p:nvSpPr>
          <p:cNvPr id="3" name="Content Placeholder 2"/>
          <p:cNvSpPr>
            <a:spLocks noGrp="1"/>
          </p:cNvSpPr>
          <p:nvPr>
            <p:ph idx="1"/>
          </p:nvPr>
        </p:nvSpPr>
        <p:spPr>
          <a:xfrm>
            <a:off x="1102995" y="1683385"/>
            <a:ext cx="9332595" cy="4195445"/>
          </a:xfrm>
        </p:spPr>
        <p:txBody>
          <a:bodyPr>
            <a:normAutofit lnSpcReduction="10000"/>
          </a:bodyPr>
          <a:lstStyle/>
          <a:p>
            <a:pPr algn="just"/>
            <a:r>
              <a:rPr lang="en-US" altLang="en-US" dirty="0"/>
              <a:t>Programming Language:</a:t>
            </a:r>
            <a:endParaRPr lang="en-US" altLang="en-US" dirty="0"/>
          </a:p>
          <a:p>
            <a:pPr algn="just"/>
            <a:r>
              <a:rPr lang="en-US" altLang="en-US" dirty="0"/>
              <a:t>1)Embedded C</a:t>
            </a:r>
            <a:endParaRPr lang="en-US" altLang="en-US" dirty="0"/>
          </a:p>
          <a:p>
            <a:pPr algn="just"/>
            <a:r>
              <a:rPr lang="en-US" altLang="en-US" dirty="0"/>
              <a:t>2)python  </a:t>
            </a:r>
            <a:endParaRPr lang="en-US" altLang="en-US" dirty="0"/>
          </a:p>
          <a:p>
            <a:pPr algn="just"/>
            <a:endParaRPr lang="en-US" altLang="en-US" dirty="0"/>
          </a:p>
          <a:p>
            <a:pPr algn="just"/>
            <a:r>
              <a:rPr lang="en-US" altLang="en-US" dirty="0"/>
              <a:t>Integtrated Development Environment (IDE):	</a:t>
            </a:r>
            <a:endParaRPr lang="en-US" altLang="en-US" dirty="0"/>
          </a:p>
          <a:p>
            <a:pPr algn="just"/>
            <a:r>
              <a:rPr lang="en-US" altLang="en-US" dirty="0"/>
              <a:t>3)Thonny IDE</a:t>
            </a:r>
            <a:endParaRPr lang="en-US" altLang="en-US" dirty="0"/>
          </a:p>
          <a:p>
            <a:pPr algn="just"/>
            <a:r>
              <a:rPr lang="en-US" altLang="en-US" dirty="0"/>
              <a:t>4)Visual Studio </a:t>
            </a:r>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795" y="144780"/>
            <a:ext cx="9404985" cy="633095"/>
          </a:xfrm>
        </p:spPr>
        <p:txBody>
          <a:bodyPr/>
          <a:lstStyle/>
          <a:p>
            <a:pPr algn="ctr"/>
            <a:r>
              <a:rPr lang="en-US" b="1" dirty="0"/>
              <a:t>Reference:</a:t>
            </a:r>
            <a:endParaRPr lang="en-IN" b="1" dirty="0"/>
          </a:p>
        </p:txBody>
      </p:sp>
      <p:sp>
        <p:nvSpPr>
          <p:cNvPr id="4" name="Text Box 3"/>
          <p:cNvSpPr txBox="1"/>
          <p:nvPr/>
        </p:nvSpPr>
        <p:spPr>
          <a:xfrm>
            <a:off x="480060" y="962660"/>
            <a:ext cx="11101070" cy="3031490"/>
          </a:xfrm>
          <a:prstGeom prst="rect">
            <a:avLst/>
          </a:prstGeom>
        </p:spPr>
        <p:txBody>
          <a:bodyPr>
            <a:noAutofit/>
          </a:bodyPr>
          <a:p>
            <a:pPr marL="342900" indent="-342900" algn="just">
              <a:buFont typeface="+mj-lt"/>
              <a:buAutoNum type="arabicPeriod"/>
            </a:pPr>
            <a:r>
              <a:rPr lang="en-US" altLang="en-US" sz="1600"/>
              <a:t>Zhang, Y., et al. “State-of-Charge Prediction for Lithium-Ion Batteries Using GRU Neural Networks.” IEEE Access, 2020.</a:t>
            </a:r>
            <a:endParaRPr lang="en-US" altLang="en-US" sz="1600"/>
          </a:p>
          <a:p>
            <a:pPr marL="342900" indent="-342900" algn="just">
              <a:buFont typeface="+mj-lt"/>
              <a:buAutoNum type="arabicPeriod"/>
            </a:pPr>
            <a:endParaRPr lang="en-US" altLang="en-US" sz="1600"/>
          </a:p>
          <a:p>
            <a:pPr marL="342900" indent="-342900" algn="just">
              <a:buFont typeface="+mj-lt"/>
              <a:buAutoNum type="arabicPeriod"/>
            </a:pPr>
            <a:r>
              <a:rPr lang="en-US" altLang="en-US" sz="1600"/>
              <a:t>Li, J., et al. “Machine Learning-Based Battery Health Monitoring and Prediction in Electric Vehicles.” Energies, 2021.</a:t>
            </a:r>
            <a:endParaRPr lang="en-US" altLang="en-US" sz="1600"/>
          </a:p>
          <a:p>
            <a:pPr marL="342900" indent="-342900" algn="just">
              <a:buFont typeface="+mj-lt"/>
              <a:buAutoNum type="arabicPeriod"/>
            </a:pPr>
            <a:endParaRPr lang="en-US" altLang="en-US" sz="1600"/>
          </a:p>
          <a:p>
            <a:pPr marL="342900" indent="-342900" algn="just">
              <a:buFont typeface="+mj-lt"/>
              <a:buAutoNum type="arabicPeriod"/>
            </a:pPr>
            <a:r>
              <a:rPr lang="en-US" altLang="en-US" sz="1600"/>
              <a:t>Goodarzi, H., et al. “Battery Cell Balancing Techniques for Electric Vehicles: A Review.” Journal of Power Sources, 2019.</a:t>
            </a:r>
            <a:endParaRPr lang="en-US" altLang="en-US" sz="1600"/>
          </a:p>
          <a:p>
            <a:pPr marL="342900" indent="-342900" algn="just">
              <a:buFont typeface="+mj-lt"/>
              <a:buAutoNum type="arabicPeriod"/>
            </a:pPr>
            <a:endParaRPr lang="en-US" altLang="en-US" sz="1600"/>
          </a:p>
          <a:p>
            <a:pPr marL="342900" indent="-342900" algn="just">
              <a:buFont typeface="+mj-lt"/>
              <a:buAutoNum type="arabicPeriod"/>
            </a:pPr>
            <a:r>
              <a:rPr lang="en-US" altLang="en-US" sz="1600"/>
              <a:t>Han, J., et al. “K-Means Clustering-Based Fault Detection in EV Battery Packs.” IEEE Transactions on Industrial Electronics, 2020.</a:t>
            </a:r>
            <a:endParaRPr lang="en-US" altLang="en-US" sz="1600"/>
          </a:p>
          <a:p>
            <a:pPr marL="342900" indent="-342900" algn="just">
              <a:buFont typeface="+mj-lt"/>
              <a:buAutoNum type="arabicPeriod"/>
            </a:pPr>
            <a:endParaRPr lang="en-US" altLang="en-US" sz="1600"/>
          </a:p>
          <a:p>
            <a:pPr marL="342900" indent="-342900" algn="just">
              <a:buFont typeface="+mj-lt"/>
              <a:buAutoNum type="arabicPeriod"/>
            </a:pPr>
            <a:r>
              <a:rPr lang="en-US" altLang="en-US" sz="1600"/>
              <a:t>Chen, T., et al. “Edge AI with NPU Acceleration for Real-Time Battery Management Systems.” IEEE Embedded Systems Letters, 2021.</a:t>
            </a:r>
            <a:endParaRPr lang="en-US" altLang="en-US" sz="1600"/>
          </a:p>
          <a:p>
            <a:pPr marL="342900" indent="-342900" algn="just">
              <a:buFont typeface="+mj-lt"/>
              <a:buAutoNum type="arabicPeriod"/>
            </a:pPr>
            <a:endParaRPr lang="en-US" altLang="en-US" sz="1600"/>
          </a:p>
          <a:p>
            <a:pPr marL="342900" indent="-342900" algn="just">
              <a:buFont typeface="+mj-lt"/>
              <a:buAutoNum type="arabicPeriod"/>
            </a:pPr>
            <a:r>
              <a:rPr lang="en-US" altLang="en-US" sz="1600"/>
              <a:t>Ramadesigan, V., et al. “Modeling and Simulation of Lithium-Ion Batteries from a Systems Engineering Perspective.” Journal of Electrochemical Energy Conversion, 2018.</a:t>
            </a:r>
            <a:endParaRPr lang="en-US" altLang="en-US" sz="1600"/>
          </a:p>
          <a:p>
            <a:pPr marL="342900" indent="-342900" algn="just">
              <a:buFont typeface="+mj-lt"/>
              <a:buAutoNum type="arabicPeriod"/>
            </a:pPr>
            <a:endParaRPr lang="en-US" altLang="en-US" sz="1600"/>
          </a:p>
          <a:p>
            <a:pPr marL="342900" indent="-342900" algn="just">
              <a:buFont typeface="+mj-lt"/>
              <a:buAutoNum type="arabicPeriod"/>
            </a:pPr>
            <a:r>
              <a:rPr lang="en-US" altLang="en-US" sz="1600"/>
              <a:t>Liu, W., et al. “Deep Learning for EV Battery Remaining Useful Life Prediction.” Applied Energy, 2020.</a:t>
            </a:r>
            <a:endParaRPr lang="en-US" altLang="en-US" sz="1600"/>
          </a:p>
          <a:p>
            <a:pPr marL="342900" indent="-342900" algn="just">
              <a:buFont typeface="+mj-lt"/>
              <a:buAutoNum type="arabicPeriod"/>
            </a:pPr>
            <a:endParaRPr lang="en-US" altLang="en-US" sz="1600"/>
          </a:p>
          <a:p>
            <a:pPr marL="342900" indent="-342900" algn="just">
              <a:buFont typeface="+mj-lt"/>
              <a:buAutoNum type="arabicPeriod"/>
            </a:pPr>
            <a:r>
              <a:rPr lang="en-US" altLang="en-US" sz="1600"/>
              <a:t>Xiong, R., et al. “Data-Driven Battery Management System for Electric Vehicles: State Estimation and Fault Diagnosis.” Renewable and Sustainable Energy Reviews, 2021.</a:t>
            </a:r>
            <a:endParaRPr lang="en-US" altLang="en-US" sz="1600"/>
          </a:p>
          <a:p>
            <a:pPr marL="342900" indent="-342900" algn="just">
              <a:buFont typeface="+mj-lt"/>
              <a:buAutoNum type="arabicPeriod"/>
            </a:pPr>
            <a:endParaRPr lang="en-US" altLang="en-US" sz="1600"/>
          </a:p>
          <a:p>
            <a:pPr indent="0" algn="just">
              <a:buFont typeface="+mj-lt"/>
              <a:buNone/>
            </a:pPr>
            <a:endParaRPr lang="en-US" altLang="en-US" sz="1600"/>
          </a:p>
        </p:txBody>
      </p:sp>
    </p:spTree>
  </p:cSld>
  <p:clrMapOvr>
    <a:masterClrMapping/>
  </p:clrMapOvr>
</p:sld>
</file>

<file path=ppt/theme/theme1.xml><?xml version="1.0" encoding="utf-8"?>
<a:theme xmlns:a="http://schemas.openxmlformats.org/drawingml/2006/main" name="Communications and Dialogues">
  <a:themeElements>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Communications and Dialogu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Communications and Dialogu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ommunications and Dialogu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ommunications and Dialogu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ommunications and Dialogu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ommunications and Dialogu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ommunications and Dialogu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ommunications and Dialogu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ommunications and Dialogu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ommunications and Dialogu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ommunications and Dialogu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ommunications and Dialogu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ommunications and Dialogu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ommunications and Dialogu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0</TotalTime>
  <Words>4579</Words>
  <Application>WPS Presentation</Application>
  <PresentationFormat>Widescreen</PresentationFormat>
  <Paragraphs>72</Paragraphs>
  <Slides>9</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9</vt:i4>
      </vt:variant>
    </vt:vector>
  </HeadingPairs>
  <TitlesOfParts>
    <vt:vector size="18" baseType="lpstr">
      <vt:lpstr>Arial</vt:lpstr>
      <vt:lpstr>SimSun</vt:lpstr>
      <vt:lpstr>Wingdings</vt:lpstr>
      <vt:lpstr>Arial Rounded MT Bold</vt:lpstr>
      <vt:lpstr>Microsoft YaHei</vt:lpstr>
      <vt:lpstr>Arial Unicode MS</vt:lpstr>
      <vt:lpstr>Calibri</vt:lpstr>
      <vt:lpstr>Communications and Dialogues</vt:lpstr>
      <vt:lpstr>Paint.Picture</vt:lpstr>
      <vt:lpstr>AI-Driven NPU-Enabled Battery Management for Electric Vehicles: Predictive Cell Voltage and Optimization Planning</vt:lpstr>
      <vt:lpstr>Abstract</vt:lpstr>
      <vt:lpstr>PowerPoint 演示文稿</vt:lpstr>
      <vt:lpstr>Block diagram</vt:lpstr>
      <vt:lpstr>Existing system</vt:lpstr>
      <vt:lpstr>Proposed syetem</vt:lpstr>
      <vt:lpstr>Hardware Requirements</vt:lpstr>
      <vt:lpstr>Software Requirements</vt:lpstr>
      <vt:lpstr>Refrence: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Maanasa Ram</dc:creator>
  <cp:lastModifiedBy>Lumisense Technologies</cp:lastModifiedBy>
  <cp:revision>19</cp:revision>
  <dcterms:created xsi:type="dcterms:W3CDTF">2025-11-11T14:56:00Z</dcterms:created>
  <dcterms:modified xsi:type="dcterms:W3CDTF">2026-01-06T15:37:10Z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36F60C8A2D89496C804FA56D05ED5325_12</vt:lpwstr>
  </property>
  <property fmtid="{D5CDD505-2E9C-101B-9397-08002B2CF9AE}" pid="3" name="KSOProductBuildVer">
    <vt:lpwstr>1033-12.2.0.23196</vt:lpwstr>
  </property>
</Properties>
</file>